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06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3"/>
                </a:solidFill>
              </a:rPr>
              <a:t>UC004 Clinical Knowledge Grounding Agent | fdeuser20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Clinical Knowledge Grounding Agent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D3EE"/>
                </a:solidFill>
              </a:rPr>
              <a:t>Grounded answers. Cited sources. Clinician oversight.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109728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UC004 | Azure AI Foundry | Wipro FDE Capstone | fdeuser20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</a:rPr>
              <a:t>The problem, the persona, the value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274320"/>
            <a:ext cx="1737360" cy="274320"/>
          </a:xfrm>
          <a:prstGeom prst="rect">
            <a:avLst/>
          </a:prstGeom>
          <a:solidFill>
            <a:srgbClr val="1B998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MINUTE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56616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3566160"/>
          </a:xfrm>
          <a:prstGeom prst="rect">
            <a:avLst/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597"/>
                </a:solidFill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</a:rPr>
              <a:t>Guidelines are 230+ pages of tables and flowcharts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</a:rPr>
              <a:t>Plain AI answers from memory and can invent citations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</a:rPr>
              <a:t>Patient-specific advice must come only from a clinician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64008" cy="3566160"/>
          </a:xfrm>
          <a:prstGeom prst="rect">
            <a:avLst/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597"/>
                </a:solidFill>
              </a:rPr>
              <a:t>Target persona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46304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</a:rPr>
              <a:t>Clinicians and care staff at Contoso Health System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</a:rPr>
              <a:t>Need a fast, trustworthy answer in the middle of care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</a:rPr>
              <a:t>Compliance team needs an audit trail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3566160"/>
          </a:xfrm>
          <a:prstGeom prst="rect">
            <a:avLst/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51560"/>
            <a:ext cx="64008" cy="35661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Business value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46304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</a:rPr>
              <a:t>Answers only from the approved corpus, with sources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</a:rPr>
              <a:t>Unsafe or uncertain answers go to a clinician, never straight out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</a:rPr>
              <a:t>Measured: 19/19 checks passed, groundedness 5.00/5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</a:rPr>
              <a:t>Demo 1: a grounded, cited answer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274320"/>
            <a:ext cx="1737360" cy="274320"/>
          </a:xfrm>
          <a:prstGeom prst="rect">
            <a:avLst/>
          </a:prstGeom>
          <a:solidFill>
            <a:srgbClr val="1B998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MINUTES 2-3</a:t>
            </a:r>
            <a:endParaRPr lang="en-US" sz="1000" dirty="0"/>
          </a:p>
        </p:txBody>
      </p:sp>
      <p:pic>
        <p:nvPicPr>
          <p:cNvPr id="4" name="Image 0" descr="Released answer with summary, confidence and cit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212080" cy="17168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8598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</a:rPr>
              <a:t>Ask: "What does the sepsis pathway require in the first hour?"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0" y="1051560"/>
            <a:ext cx="2743200" cy="356616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1051560"/>
            <a:ext cx="64008" cy="3566160"/>
          </a:xfrm>
          <a:prstGeom prst="rect">
            <a:avLst/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124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597"/>
                </a:solidFill>
              </a:rPr>
              <a:t>Point out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463040"/>
            <a:ext cx="2468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</a:rPr>
              <a:t>One-sentence summary first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</a:rPr>
              <a:t>Every step comes from CHS-PATH-010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</a:rPr>
              <a:t>Confidence: High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</a:rPr>
              <a:t>Real document cited, no invented source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</a:rPr>
              <a:t>Released only because it passed the safety gate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</a:rPr>
              <a:t>Demo 2: human oversight routing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274320"/>
            <a:ext cx="1737360" cy="274320"/>
          </a:xfrm>
          <a:prstGeom prst="rect">
            <a:avLst/>
          </a:prstGeom>
          <a:solidFill>
            <a:srgbClr val="1B998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MINUTES 3-4</a:t>
            </a:r>
            <a:endParaRPr lang="en-US" sz="1000" dirty="0"/>
          </a:p>
        </p:txBody>
      </p:sp>
      <p:pic>
        <p:nvPicPr>
          <p:cNvPr id="4" name="Image 0" descr="Insulin question held for clinician 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114800" cy="9219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0466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B38"/>
                </a:solidFill>
              </a:rPr>
              <a:t>1. A patient-specific question is held. No clinical content is released.</a:t>
            </a:r>
            <a:endParaRPr lang="en-US" sz="1200" dirty="0"/>
          </a:p>
        </p:txBody>
      </p:sp>
      <p:pic>
        <p:nvPicPr>
          <p:cNvPr id="6" name="Image 1" descr="Clinician console with feedback dropdow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51560"/>
            <a:ext cx="3840480" cy="188138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846320" y="298780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B38"/>
                </a:solidFill>
              </a:rPr>
              <a:t>2. The clinician reviews it and must pick a feedback category before approving, editing or rejecting.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2926080"/>
            <a:ext cx="4114800" cy="1691640"/>
          </a:xfrm>
          <a:prstGeom prst="rect">
            <a:avLst/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926080"/>
            <a:ext cx="64008" cy="1691640"/>
          </a:xfrm>
          <a:prstGeom prst="rect">
            <a:avLst/>
          </a:prstGeom>
          <a:solidFill>
            <a:srgbClr val="C77D0A"/>
          </a:solidFill>
          <a:ln w="12700">
            <a:solidFill>
              <a:srgbClr val="C77D0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2999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D0A"/>
                </a:solidFill>
              </a:rPr>
              <a:t>Release rule (fails closed)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337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B38"/>
                </a:solidFill>
              </a:rPr>
              <a:t>Held if the agent asks for review, confidence is Low, or a citation is missing or malformed.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3611880"/>
            <a:ext cx="3840480" cy="1005840"/>
          </a:xfrm>
          <a:prstGeom prst="rect">
            <a:avLst/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46320" y="3611880"/>
            <a:ext cx="64008" cy="10058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0" y="36850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3. Decision is recorded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B38"/>
                </a:solidFill>
              </a:rPr>
              <a:t>Reviewer, time, note and feedback category are saved for audit.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</a:rPr>
              <a:t>Architecture, RAG grounding and security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274320"/>
            <a:ext cx="1737360" cy="274320"/>
          </a:xfrm>
          <a:prstGeom prst="rect">
            <a:avLst/>
          </a:prstGeom>
          <a:solidFill>
            <a:srgbClr val="1B998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MINUTE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Approved corpus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VA/DoD + Contoso policies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325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21408" y="1005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21408" y="100584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Knowledge base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Foundry IQ, cited synthesis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1325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85616" y="1005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85616" y="100584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Grounded agent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Retrieval required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1325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9824" y="1005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C77D0A"/>
          </a:solidFill>
          <a:ln w="12700">
            <a:solidFill>
              <a:srgbClr val="C77D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9824" y="100584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Release gate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should_hold()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12864" y="1325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14032" y="10058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100584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Clinician queue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Approve / edit / reject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4023360" cy="242316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94560"/>
            <a:ext cx="64008" cy="2423160"/>
          </a:xfrm>
          <a:prstGeom prst="rect">
            <a:avLst/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267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597"/>
                </a:solidFill>
              </a:rPr>
              <a:t>RAG grounding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6060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Standard extraction keeps tables and flowcharts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Medium reasoning: plans queries, reranks, one retry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Answer synthesis returns cited answers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tool_choice = required: no answer without retrieval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Strict JSON schema: answer, summary, confidence, citations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194560"/>
            <a:ext cx="4023360" cy="2423160"/>
          </a:xfrm>
          <a:prstGeom prst="rect">
            <a:avLst/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194560"/>
            <a:ext cx="64008" cy="24231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267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Security and governance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6060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Managed identity to the knowledge base: no keys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Agent never repeats patient identifiers (instruction rule)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Fail-closed gate and clinician-only release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Purview PHI redaction: planned, not built in this lab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</a:rPr>
              <a:t>Evaluation results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274320"/>
            <a:ext cx="1737360" cy="274320"/>
          </a:xfrm>
          <a:prstGeom prst="rect">
            <a:avLst/>
          </a:prstGeom>
          <a:solidFill>
            <a:srgbClr val="1B998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MINUTE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143000"/>
          </a:xfrm>
          <a:prstGeom prst="rect">
            <a:avLst/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19 / 19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behaviour checks passed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11430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5.00 / 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mean groundedness (n = 12)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651760" cy="1143000"/>
          </a:xfrm>
          <a:prstGeom prst="rect">
            <a:avLst/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12 / 12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answers cited the expected source</a:t>
            </a:r>
            <a:endParaRPr lang="en-US" sz="1200" dirty="0"/>
          </a:p>
        </p:txBody>
      </p:sp>
      <p:pic>
        <p:nvPicPr>
          <p:cNvPr id="13" name="Image 0" descr="step4_evaluate.py 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1720"/>
            <a:ext cx="4572000" cy="139333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212080" y="2331720"/>
            <a:ext cx="3474720" cy="228600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0" y="2331720"/>
            <a:ext cx="64008" cy="2286000"/>
          </a:xfrm>
          <a:prstGeom prst="rect">
            <a:avLst/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9496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597"/>
                </a:solidFill>
              </a:rPr>
              <a:t>Breakdown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274320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Answerable 12/12, deferral 4/4, out-of-corpus 3/3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Cloud evaluation: 12 passed, 0 failed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B38"/>
                </a:solidFill>
              </a:rPr>
              <a:t>Latency and retrieval precision: not measured by the lab scripts; on the roadmap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</a:rPr>
              <a:t>Q&amp;A: likely questions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274320"/>
            <a:ext cx="1737360" cy="274320"/>
          </a:xfrm>
          <a:prstGeom prst="rect">
            <a:avLst/>
          </a:prstGeom>
          <a:solidFill>
            <a:srgbClr val="1B998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Q&amp;A DEFENSE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6916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691640"/>
          </a:xfrm>
          <a:prstGeom prst="rect">
            <a:avLst/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597"/>
                </a:solidFill>
              </a:rPr>
              <a:t>How do you stop hallucination?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173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B38"/>
                </a:solidFill>
              </a:rPr>
              <a:t>Retrieval is forced, answers must come from the corpus and carry real citations. Groundedness scored 5.00/5.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691640"/>
          </a:xfrm>
          <a:prstGeom prst="rect">
            <a:avLst/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64008" cy="16916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What if the corpus has no answer?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4173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B38"/>
                </a:solidFill>
              </a:rPr>
              <a:t>The agent says so, marks Low confidence and routes it to a clinician. 3/3 out-of-corpus cases passed.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6916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64008" cy="1691640"/>
          </a:xfrm>
          <a:prstGeom prst="rect">
            <a:avLst/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597"/>
                </a:solidFill>
              </a:rPr>
              <a:t>Why keep a human in the loop?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461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B38"/>
                </a:solidFill>
              </a:rPr>
              <a:t>CHS-POL-001 reserves patient-specific decisions for clinicians. The gate fails closed and only a clinician can release held answers.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1691640"/>
          </a:xfrm>
          <a:prstGeom prst="rect">
            <a:avLst/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834640"/>
            <a:ext cx="64008" cy="16916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Is it production ready?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2461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B38"/>
                </a:solidFill>
              </a:rPr>
              <a:t>Not yet. Next: Purview redaction, Entra ID for the console, latency and retrieval-precision measurement.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On-screen Show (16:9)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UC004 Clinical Knowledge Grounding Agent - Capstone Demo</dc:title>
  <dc:subject>PptxGenJS Presentation</dc:subject>
  <dc:creator>fdeuser20</dc:creator>
  <cp:lastModifiedBy>Parkwood Sports</cp:lastModifiedBy>
  <cp:revision>1</cp:revision>
  <dcterms:created xsi:type="dcterms:W3CDTF">2026-10-28T12:08:45Z</dcterms:created>
  <dcterms:modified xsi:type="dcterms:W3CDTF">2026-10-28T12:21:44Z</dcterms:modified>
</cp:coreProperties>
</file>